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0069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jpeg"/><Relationship Id="rId7" Type="http://schemas.openxmlformats.org/officeDocument/2006/relationships/image" Target="../media/image18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342900" y="-228600"/>
            <a:ext cx="54864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429250" y="0"/>
            <a:ext cx="57150" cy="5143500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942975"/>
            <a:ext cx="49149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6218" b="1" kern="0" spc="-3" dirty="0">
                <a:solidFill>
                  <a:srgbClr val="1A1A1A"/>
                </a:solidFill>
              </a:rPr>
              <a:t>WAll-e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571500" y="1857375"/>
            <a:ext cx="3571875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An Autonomous Surveillance Robot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571500" y="3341489"/>
            <a:ext cx="49149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2" dirty="0">
                <a:solidFill>
                  <a:srgbClr val="FF3B30"/>
                </a:solidFill>
              </a:rPr>
              <a:t/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571500" y="3568303"/>
            <a:ext cx="4914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By Mohammad Thaher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/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9" name="Text 6"/>
          <p:cNvSpPr/>
          <p:nvPr/>
        </p:nvSpPr>
        <p:spPr>
          <a:xfrm>
            <a:off x="571500" y="4396978"/>
            <a:ext cx="49149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/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1AC4C3-2893-4679-0C1F-D5FFC5B87DB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" t="24549" b="16279"/>
          <a:stretch>
            <a:fillRect/>
          </a:stretch>
        </p:blipFill>
        <p:spPr bwMode="auto">
          <a:xfrm>
            <a:off x="5457825" y="0"/>
            <a:ext cx="3785235" cy="51435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596B55-DF49-0016-74A6-BE8E19F9B8F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08" t="12404" b="21695"/>
          <a:stretch>
            <a:fillRect/>
          </a:stretch>
        </p:blipFill>
        <p:spPr bwMode="auto">
          <a:xfrm>
            <a:off x="5362575" y="0"/>
            <a:ext cx="3880485" cy="54222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23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5825" y="428625"/>
            <a:ext cx="550356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2" dirty="0">
                <a:solidFill>
                  <a:srgbClr val="1A1A1A"/>
                </a:solidFill>
              </a:rPr>
              <a:t>Abstract: The Vision of WAll-e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323380"/>
            <a:ext cx="371475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WAll-e is an autonomous obstacle-avoiding surveillance robot that utilizes a Raspberry Pi as its central processing unit. By integrating an HC-SR04 ultrasonic sensor with a servo motor, the robot can scan its surroundings to identify the safest path.</a:t>
            </a:r>
            <a:endParaRPr lang="en-US" sz="1159" dirty="0"/>
          </a:p>
        </p:txBody>
      </p:sp>
      <p:sp>
        <p:nvSpPr>
          <p:cNvPr id="5" name="Text 2"/>
          <p:cNvSpPr/>
          <p:nvPr/>
        </p:nvSpPr>
        <p:spPr>
          <a:xfrm>
            <a:off x="571500" y="2636183"/>
            <a:ext cx="3714750" cy="10058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The system features advanced motor control techniques, including PWM-based pulsed motion and soft-start mechanisms, to ensure operational stability.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571500" y="3642001"/>
            <a:ext cx="3714750" cy="1220130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Furthermore, the robot enhances security by capturing images of detected obstacles and transmitting them to users via the Telegram platform.</a:t>
            </a:r>
            <a:endParaRPr lang="en-US" sz="1159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57C50B-0FFE-A602-D6BB-94C7B210326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0" t="14179" r="27729" b="-1155"/>
          <a:stretch>
            <a:fillRect/>
          </a:stretch>
        </p:blipFill>
        <p:spPr bwMode="auto">
          <a:xfrm>
            <a:off x="5277122" y="1545630"/>
            <a:ext cx="3135630" cy="2413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322525" cy="9804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66192"/>
            <a:ext cx="8322525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143000" y="428625"/>
            <a:ext cx="7751025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2" dirty="0">
                <a:solidFill>
                  <a:srgbClr val="1A1A1A"/>
                </a:solidFill>
              </a:rPr>
              <a:t>Introduction: Autonomous Surveillance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394817"/>
            <a:ext cx="4286250" cy="28575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286375" y="1394817"/>
            <a:ext cx="3286125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In modern applications such as safety monitoring and industrial inspection, autonomous mobile robots are becoming indispensable due to their ability to operate without constant human supervision.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286375" y="2752130"/>
            <a:ext cx="3286125" cy="135728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500688" y="2966442"/>
            <a:ext cx="2857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Project Aim</a:t>
            </a:r>
            <a:endParaRPr lang="en-US" sz="683" dirty="0"/>
          </a:p>
        </p:txBody>
      </p:sp>
      <p:sp>
        <p:nvSpPr>
          <p:cNvPr id="11" name="Text 7"/>
          <p:cNvSpPr/>
          <p:nvPr/>
        </p:nvSpPr>
        <p:spPr>
          <a:xfrm>
            <a:off x="5500688" y="3209330"/>
            <a:ext cx="2857500" cy="90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2F2F2"/>
                </a:solidFill>
              </a:rPr>
              <a:t>The WAll-e project specifically addresses these needs by building a platform that integrates road traffic collision avoidance, object detection, and real-time observation using Python and the gpiozero library.</a:t>
            </a:r>
            <a:endParaRPr lang="en-US" sz="942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0963B5-4EC4-A869-05FF-6133E4A70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09105"/>
            <a:ext cx="4286250" cy="28432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28625"/>
            <a:ext cx="440627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2" dirty="0">
                <a:solidFill>
                  <a:srgbClr val="1A1A1A"/>
                </a:solidFill>
              </a:rPr>
              <a:t>Hardware Architecture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494830"/>
            <a:ext cx="2107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Processing &amp; Power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1737717"/>
            <a:ext cx="210740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Raspberry Pi:</a:t>
            </a:r>
            <a:r>
              <a:rPr lang="en-US" sz="942" dirty="0">
                <a:solidFill>
                  <a:srgbClr val="333333"/>
                </a:solidFill>
              </a:rPr>
              <a:t> The central brain managing sensor data and actuator commands.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571500" y="2277768"/>
            <a:ext cx="2107406" cy="69730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Power System:</a:t>
            </a:r>
            <a:r>
              <a:rPr lang="en-US" sz="942" dirty="0">
                <a:solidFill>
                  <a:srgbClr val="333333"/>
                </a:solidFill>
              </a:rPr>
              <a:t> Three (3.7v) 18650 Lithium batteries provide portable, autonomous operation for the entire system.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964656" y="1494830"/>
            <a:ext cx="2107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Sensing &amp; Actuation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2964656" y="1737717"/>
            <a:ext cx="210740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HC-SR04 Sensor:</a:t>
            </a:r>
            <a:r>
              <a:rPr lang="en-US" sz="942" dirty="0">
                <a:solidFill>
                  <a:srgbClr val="333333"/>
                </a:solidFill>
              </a:rPr>
              <a:t> Mounted on a servo for wide-angle environmental feedback.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2964656" y="2277768"/>
            <a:ext cx="2107406" cy="682926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L298N Module:</a:t>
            </a:r>
            <a:r>
              <a:rPr lang="en-US" sz="942" dirty="0">
                <a:solidFill>
                  <a:srgbClr val="333333"/>
                </a:solidFill>
              </a:rPr>
              <a:t> High-current driver for precise control of two DC motors.</a:t>
            </a:r>
            <a:endParaRPr lang="en-US" sz="885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788524-B7BE-6C57-F238-ECE3905DF1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2709239"/>
            <a:ext cx="4214813" cy="1967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2" dirty="0">
                <a:solidFill>
                  <a:srgbClr val="1A1A1A"/>
                </a:solidFill>
              </a:rPr>
              <a:t>Software Architecture: The Control Loop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766292"/>
            <a:ext cx="247648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0E0E0"/>
                </a:solidFill>
              </a:rPr>
              <a:t>01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2303859"/>
            <a:ext cx="24764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Main Control Loop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2618184"/>
            <a:ext cx="2476481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software operates as a continuous, infinite loop managing sensing, decision-making, and movement in real-time. It ensures the robot remains responsive to environmental changes.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333731" y="1766292"/>
            <a:ext cx="247650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0E0E0"/>
                </a:solidFill>
              </a:rPr>
              <a:t>02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3333731" y="2303859"/>
            <a:ext cx="24765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Data Processing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3333731" y="2618184"/>
            <a:ext cx="2476509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To ensure reliability, the system employs a </a:t>
            </a:r>
            <a:r>
              <a:rPr lang="en-US" sz="885" b="1" dirty="0">
                <a:solidFill>
                  <a:srgbClr val="333333"/>
                </a:solidFill>
              </a:rPr>
              <a:t>median filtering technique</a:t>
            </a:r>
            <a:r>
              <a:rPr lang="en-US" sz="942" dirty="0">
                <a:solidFill>
                  <a:srgbClr val="333333"/>
                </a:solidFill>
              </a:rPr>
              <a:t>. It processes five consecutive distance readings to eliminate signal spikes and environmental noise.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3333731" y="3861085"/>
            <a:ext cx="2476509" cy="8572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6606" y="4003960"/>
            <a:ext cx="219075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3B30"/>
                </a:solidFill>
              </a:rPr>
              <a:t>Filter Logic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3476606" y="4199688"/>
            <a:ext cx="219075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2F2F2"/>
                </a:solidFill>
              </a:rPr>
              <a:t>Rejects outliers to prevent false obstacle detection.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6095991" y="1766292"/>
            <a:ext cx="247648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0E0E0"/>
                </a:solidFill>
              </a:rPr>
              <a:t>03</a:t>
            </a:r>
            <a:endParaRPr lang="en-US" sz="2436" dirty="0"/>
          </a:p>
        </p:txBody>
      </p:sp>
      <p:sp>
        <p:nvSpPr>
          <p:cNvPr id="14" name="Text 11"/>
          <p:cNvSpPr/>
          <p:nvPr/>
        </p:nvSpPr>
        <p:spPr>
          <a:xfrm>
            <a:off x="6095991" y="2303859"/>
            <a:ext cx="24764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Decision Logic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6095991" y="2618184"/>
            <a:ext cx="2476481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robot evaluates filtered data to decide between forward motion or an avoidance sequence: stopping, scanning 180°, and selecting the path with maximum clear distance.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2" dirty="0">
                <a:solidFill>
                  <a:srgbClr val="1A1A1A"/>
                </a:solidFill>
              </a:rPr>
              <a:t>Control Algorithms: Precision and Stability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666280"/>
            <a:ext cx="2476481" cy="22145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Motor Control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2173486"/>
            <a:ext cx="24764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PWM Regulation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571500" y="2429210"/>
            <a:ext cx="24200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Pulse Width Modulation ensures precise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2634928"/>
            <a:ext cx="228770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low-speed adjustments and smoother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840645"/>
            <a:ext cx="46936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motion.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3174950"/>
            <a:ext cx="24764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Soft-Start Mechanism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3430674"/>
            <a:ext cx="17578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Gradual acceleration reduces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1500" y="3636392"/>
            <a:ext cx="238054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mechanical stress and prevents sudden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71500" y="3842110"/>
            <a:ext cx="13164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jumps during startup.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3333731" y="1666280"/>
            <a:ext cx="2476509" cy="22145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Scanning Logic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3333731" y="2173486"/>
            <a:ext cx="247650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Wide-Angle View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3333731" y="2429210"/>
            <a:ext cx="19252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Servo-mounted sensors provide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3333731" y="2634928"/>
            <a:ext cx="23782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environmental scanning across a broad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3333731" y="2840645"/>
            <a:ext cx="89023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angular range.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3333731" y="3174950"/>
            <a:ext cx="247650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Path Selection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3333731" y="3430674"/>
            <a:ext cx="23414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system identifies the path with the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3333731" y="3636392"/>
            <a:ext cx="21831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maximum clear distance for optimal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3333731" y="3842110"/>
            <a:ext cx="6726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navigation.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6095991" y="1666280"/>
            <a:ext cx="2476481" cy="22145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Safety Zones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6095991" y="2173486"/>
            <a:ext cx="24764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Threshold Logic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6095991" y="2429210"/>
            <a:ext cx="24492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Predefined distance zones (Critical, Slow,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6095991" y="2634928"/>
            <a:ext cx="18183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Far) dictate immediate robotic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6095991" y="2840645"/>
            <a:ext cx="6511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responses.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6095991" y="3174950"/>
            <a:ext cx="24764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Real-Time Reaction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6095991" y="3430674"/>
            <a:ext cx="20042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Continuous processing allows for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6095991" y="3636392"/>
            <a:ext cx="18048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instantaneous adjustments to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6095991" y="3842110"/>
            <a:ext cx="14561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environmental changes.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71525"/>
            <a:ext cx="8572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62" b="1" kern="0" spc="-2" dirty="0">
                <a:solidFill>
                  <a:srgbClr val="1A1A1A"/>
                </a:solidFill>
              </a:rPr>
              <a:t>Distance Zones &amp; Logic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1757363"/>
            <a:ext cx="1600200" cy="375047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3B30"/>
                </a:solidFill>
              </a:rPr>
              <a:t>Zone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2171700" y="1757363"/>
            <a:ext cx="2000250" cy="375047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3B30"/>
                </a:solidFill>
              </a:rPr>
              <a:t>Distance Threshold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171950" y="1757363"/>
            <a:ext cx="4400550" cy="375047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3B30"/>
                </a:solidFill>
              </a:rPr>
              <a:t>Robot Response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2132409"/>
            <a:ext cx="1600200" cy="629320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Critical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2171700" y="2132409"/>
            <a:ext cx="2000250" cy="629320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&lt; 65 cm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4171950" y="2132409"/>
            <a:ext cx="4400550" cy="629320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Stop, scan surroundings, capture photo, and execute a turn.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571500" y="2761729"/>
            <a:ext cx="1600200" cy="625748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Slow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2171700" y="2761729"/>
            <a:ext cx="2000250" cy="625748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65 – 145 cm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4171950" y="2761729"/>
            <a:ext cx="4400550" cy="625748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Enter caution mode with significantly reduced movement speed.</a:t>
            </a:r>
            <a:endParaRPr lang="en-US" sz="1159" dirty="0"/>
          </a:p>
        </p:txBody>
      </p:sp>
      <p:sp>
        <p:nvSpPr>
          <p:cNvPr id="13" name="Text 10"/>
          <p:cNvSpPr/>
          <p:nvPr/>
        </p:nvSpPr>
        <p:spPr>
          <a:xfrm>
            <a:off x="571500" y="3387477"/>
            <a:ext cx="1600200" cy="625748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Far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2171700" y="3387477"/>
            <a:ext cx="2000250" cy="625748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&gt; 145 cm</a:t>
            </a:r>
            <a:endParaRPr lang="en-US" sz="1159" dirty="0"/>
          </a:p>
        </p:txBody>
      </p:sp>
      <p:sp>
        <p:nvSpPr>
          <p:cNvPr id="15" name="Text 12"/>
          <p:cNvSpPr/>
          <p:nvPr/>
        </p:nvSpPr>
        <p:spPr>
          <a:xfrm>
            <a:off x="4171950" y="3387477"/>
            <a:ext cx="4400550" cy="625748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Maintain normal cruising speed and continue forward motion.</a:t>
            </a:r>
            <a:endParaRPr lang="en-US" sz="1159" dirty="0"/>
          </a:p>
        </p:txBody>
      </p:sp>
      <p:sp>
        <p:nvSpPr>
          <p:cNvPr id="16" name="Text 13"/>
          <p:cNvSpPr/>
          <p:nvPr/>
        </p:nvSpPr>
        <p:spPr>
          <a:xfrm>
            <a:off x="0" y="4016797"/>
            <a:ext cx="5715000" cy="635794"/>
          </a:xfrm>
          <a:prstGeom prst="rect">
            <a:avLst/>
          </a:prstGeom>
          <a:noFill/>
          <a:ln/>
        </p:spPr>
        <p:txBody>
          <a:bodyPr wrap="square" lIns="680339" tIns="340233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robot's behavior is governed by these predefined thresholds to ensure safe navigation while optimizing operational efficiency in varying environments.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28625"/>
            <a:ext cx="538549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2" dirty="0">
                <a:solidFill>
                  <a:srgbClr val="1A1A1A"/>
                </a:solidFill>
              </a:rPr>
              <a:t>Testing &amp; Results: Validation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494830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Sensor Accuracy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1737717"/>
            <a:ext cx="385762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Median Filtering Success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571500" y="2064879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Comprehensive testing confirmed that median filtering successfully stabilized sensor readings, effectively eliminating signal spikes and preventing unnecessary stops.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714875" y="1494830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Navigation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714875" y="1737717"/>
            <a:ext cx="385762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Autonomous Path Selection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4714875" y="2064879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robot consistently identified the optimal path during avoidance sequences and resumed its mission without manual intervention in all test cases.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3100722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Stability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571500" y="3343610"/>
            <a:ext cx="385762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Motion Precision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571500" y="3670771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transition to pulse-based PWM control and soft-start mechanisms significantly improved low-speed precision and reduced mechanical stress.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714875" y="3100722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Communication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714875" y="3343610"/>
            <a:ext cx="385762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Telegram Alert Reliability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4714875" y="3670771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alert system proved highly responsive, delivering captured images and status updates to the user with minimal latency and high reliability.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2" dirty="0">
                <a:solidFill>
                  <a:srgbClr val="1A1A1A"/>
                </a:solidFill>
              </a:rPr>
              <a:t>Lessons Learned: Engineering Insights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666280"/>
            <a:ext cx="2476481" cy="22145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Sensor Data Handling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2173486"/>
            <a:ext cx="24764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Noise Management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571500" y="2429210"/>
            <a:ext cx="21601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Real-world sensor data is inherently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2634928"/>
            <a:ext cx="20616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noisy. Robust filtering, such as the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840645"/>
            <a:ext cx="216916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median filter, is essential for reliable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3046363"/>
            <a:ext cx="10271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decision-making.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3380668"/>
            <a:ext cx="24764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Environmental Factors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71500" y="3636392"/>
            <a:ext cx="19235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Testing in diverse environments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71500" y="3842110"/>
            <a:ext cx="21107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highlighted the need for adaptable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71500" y="4047827"/>
            <a:ext cx="20225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thresholds to maintain consistent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1500" y="4253545"/>
            <a:ext cx="8204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performance.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333731" y="1666280"/>
            <a:ext cx="2476509" cy="22145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Motion Control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3333731" y="2173486"/>
            <a:ext cx="247650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Stability vs. Speed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3333731" y="2429210"/>
            <a:ext cx="22716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Direct motor activation is jerky. Pulse-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3333731" y="2634928"/>
            <a:ext cx="20209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based PWM control and soft-start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3333731" y="2840645"/>
            <a:ext cx="24399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mechanisms are necessary for achieving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3333731" y="3046363"/>
            <a:ext cx="10847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stable movement.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3333731" y="3380668"/>
            <a:ext cx="247650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Mechanical Strain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3333731" y="3636392"/>
            <a:ext cx="23646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Gradual acceleration not only improves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3333731" y="3842110"/>
            <a:ext cx="23323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precision but also significantly reduces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3333731" y="4047827"/>
            <a:ext cx="239971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mechanical wear on the robotic chassis.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6095991" y="1666280"/>
            <a:ext cx="2476481" cy="22145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Software Organization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6095991" y="2173486"/>
            <a:ext cx="24764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Modular Architecture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6095991" y="2429210"/>
            <a:ext cx="21645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Breaking the program into separate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6095991" y="2634928"/>
            <a:ext cx="229066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functions for sensing, movement, and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6095991" y="2840645"/>
            <a:ext cx="23885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alerts simplifies debugging and testing.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6095991" y="3174950"/>
            <a:ext cx="24764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Error Handling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6095991" y="3430674"/>
            <a:ext cx="23725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Integrating remote communication like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6095991" y="3636392"/>
            <a:ext cx="243289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Telegram requires robust error handling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6095991" y="3842110"/>
            <a:ext cx="20121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to prevent system crashes during</a:t>
            </a:r>
            <a:endParaRPr lang="en-US" sz="942" dirty="0"/>
          </a:p>
        </p:txBody>
      </p:sp>
      <p:sp>
        <p:nvSpPr>
          <p:cNvPr id="34" name="Text 31"/>
          <p:cNvSpPr/>
          <p:nvPr/>
        </p:nvSpPr>
        <p:spPr>
          <a:xfrm>
            <a:off x="6095991" y="4047827"/>
            <a:ext cx="93689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network issues.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2" dirty="0">
                <a:solidFill>
                  <a:srgbClr val="1A1A1A"/>
                </a:solidFill>
              </a:rPr>
              <a:t>Future Enhancements: Scaling Up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694855"/>
            <a:ext cx="2428875" cy="15716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571500" y="3409355"/>
            <a:ext cx="25241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Hardware Evolution</a:t>
            </a:r>
            <a:endParaRPr lang="en-US" sz="683" dirty="0"/>
          </a:p>
        </p:txBody>
      </p:sp>
      <p:sp>
        <p:nvSpPr>
          <p:cNvPr id="7" name="Text 3"/>
          <p:cNvSpPr/>
          <p:nvPr/>
        </p:nvSpPr>
        <p:spPr>
          <a:xfrm>
            <a:off x="571500" y="3652242"/>
            <a:ext cx="252411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Advanced Sensing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571500" y="3859411"/>
            <a:ext cx="25241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Integration of RPLIDAR for 360-degree mapping and Arduino Uno for low-level task offloading to improve real-time response.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3309928" y="1694855"/>
            <a:ext cx="2428875" cy="15716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928" y="1694855"/>
            <a:ext cx="2428875" cy="15716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09928" y="3409355"/>
            <a:ext cx="25241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Intelligence &amp; Vision</a:t>
            </a:r>
            <a:endParaRPr lang="en-US" sz="683" dirty="0"/>
          </a:p>
        </p:txBody>
      </p:sp>
      <p:sp>
        <p:nvSpPr>
          <p:cNvPr id="12" name="Text 7"/>
          <p:cNvSpPr/>
          <p:nvPr/>
        </p:nvSpPr>
        <p:spPr>
          <a:xfrm>
            <a:off x="3309928" y="3652242"/>
            <a:ext cx="252411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Object Classification</a:t>
            </a:r>
            <a:endParaRPr lang="en-US" sz="784" dirty="0"/>
          </a:p>
        </p:txBody>
      </p:sp>
      <p:sp>
        <p:nvSpPr>
          <p:cNvPr id="13" name="Text 8"/>
          <p:cNvSpPr/>
          <p:nvPr/>
        </p:nvSpPr>
        <p:spPr>
          <a:xfrm>
            <a:off x="3309928" y="3859411"/>
            <a:ext cx="25241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Implementing OpenCV and YOLOv5-tiny for real-time identification of people and objects in captured surveillance images.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6048356" y="1694855"/>
            <a:ext cx="2428875" cy="15716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6048356" y="3409355"/>
            <a:ext cx="25241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3B30"/>
                </a:solidFill>
              </a:rPr>
              <a:t>System Architecture</a:t>
            </a:r>
            <a:endParaRPr lang="en-US" sz="683" dirty="0"/>
          </a:p>
        </p:txBody>
      </p:sp>
      <p:sp>
        <p:nvSpPr>
          <p:cNvPr id="17" name="Text 11"/>
          <p:cNvSpPr/>
          <p:nvPr/>
        </p:nvSpPr>
        <p:spPr>
          <a:xfrm>
            <a:off x="6048356" y="3652242"/>
            <a:ext cx="25241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Modular Framework</a:t>
            </a:r>
            <a:endParaRPr lang="en-US" sz="784" dirty="0"/>
          </a:p>
        </p:txBody>
      </p:sp>
      <p:sp>
        <p:nvSpPr>
          <p:cNvPr id="18" name="Text 12"/>
          <p:cNvSpPr/>
          <p:nvPr/>
        </p:nvSpPr>
        <p:spPr>
          <a:xfrm>
            <a:off x="6048356" y="3859411"/>
            <a:ext cx="2524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Transitioning to ROS2 (Robot Operating System) to create a scalable, modular architecture for complex multi-sensor missions.</a:t>
            </a:r>
            <a:endParaRPr lang="en-US" sz="834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2E96FC1-3025-5FE2-D3D7-E2608C5ACD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9928" y="1694856"/>
            <a:ext cx="2330842" cy="1571624"/>
          </a:xfrm>
          <a:prstGeom prst="rect">
            <a:avLst/>
          </a:prstGeom>
        </p:spPr>
      </p:pic>
      <p:pic>
        <p:nvPicPr>
          <p:cNvPr id="1026" name="Picture 2" descr="Slamtec RPLIDAR A1 2D 360 درجة 12 متر مسح الاردن | Ubuy">
            <a:extLst>
              <a:ext uri="{FF2B5EF4-FFF2-40B4-BE49-F238E27FC236}">
                <a16:creationId xmlns:a16="http://schemas.microsoft.com/office/drawing/2014/main" id="{D4C0341B-CB7D-DA87-EDFF-DDFF32D2FA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114"/>
          <a:stretch>
            <a:fillRect/>
          </a:stretch>
        </p:blipFill>
        <p:spPr bwMode="auto">
          <a:xfrm>
            <a:off x="571499" y="1694855"/>
            <a:ext cx="2428875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Beginner's Guide to Simulating and Testing Robots with ROS 2 and NVIDIA  Isaac Sim | NVIDIA Technical Blog">
            <a:extLst>
              <a:ext uri="{FF2B5EF4-FFF2-40B4-BE49-F238E27FC236}">
                <a16:creationId xmlns:a16="http://schemas.microsoft.com/office/drawing/2014/main" id="{64AE4678-0DBB-FDF4-C2AC-7BFC798D9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56" y="1659135"/>
            <a:ext cx="2428875" cy="160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14413"/>
            <a:ext cx="8572500" cy="92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731" b="1" kern="0" spc="-3" dirty="0">
                <a:solidFill>
                  <a:srgbClr val="1A1A1A"/>
                </a:solidFill>
              </a:rPr>
              <a:t>Conclusion:
Project Impact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571500" y="2654573"/>
            <a:ext cx="37147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The WAll-e project successfully demonstrates the integration of real-time sensing, autonomous decision-making, and wireless communication in a mobile robotic platform.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571500" y="3683273"/>
            <a:ext cx="3714750" cy="1243013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It has provided invaluable hands-on experience in embedded systems and robotics engineering, serving as a robust foundation for future developments.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4857750" y="2654573"/>
            <a:ext cx="3714750" cy="240203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857750" y="2654573"/>
            <a:ext cx="3714750" cy="57150"/>
          </a:xfrm>
          <a:prstGeom prst="rect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143500" y="2940323"/>
            <a:ext cx="3143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2" dirty="0">
                <a:solidFill>
                  <a:srgbClr val="FF3B30"/>
                </a:solidFill>
              </a:rPr>
              <a:t>Key Achievement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143500" y="3238574"/>
            <a:ext cx="3143250" cy="1300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F2F2F2"/>
                </a:solidFill>
              </a:rPr>
              <a:t>WAll-e proves that intelligent control logic can transform simple hardware into a sophisticated autonomous system.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5143500" y="4824431"/>
            <a:ext cx="3143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3B30"/>
                </a:solidFill>
              </a:rPr>
              <a:t>Project Completed Successfully</a:t>
            </a: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923</Words>
  <Application>Microsoft Office PowerPoint</Application>
  <PresentationFormat>On-screen Show (16:9)</PresentationFormat>
  <Paragraphs>148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WALL-E: Autonomous Surveillance Robot</dc:title>
  <dc:subject>Personal Project</dc:subject>
  <dc:creator>Mohammad Thaher</dc:creator>
  <cp:lastModifiedBy>Mohammad Thaher</cp:lastModifiedBy>
  <cp:revision>6</cp:revision>
  <dcterms:created xsi:type="dcterms:W3CDTF">2026-01-11T18:18:41Z</dcterms:created>
  <dcterms:modified xsi:type="dcterms:W3CDTF">2026-01-11T22:37:54Z</dcterms:modified>
  <cp:keywords/>
  <dc:description/>
</cp:coreProperties>
</file>